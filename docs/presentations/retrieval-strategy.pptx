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D97B2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B2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B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gemini-embedding-001</c:v>
                  </c:pt>
                  <c:pt idx="1">
                    <c:v>voyage-4-large</c:v>
                  </c:pt>
                  <c:pt idx="2">
                    <c:v>gemini-embedding-2</c:v>
                  </c:pt>
                  <c:pt idx="3">
                    <c:v>openai-3-large (incumbent)</c:v>
                  </c:pt>
                  <c:pt idx="4">
                    <c:v>cohere-embed-v4</c:v>
                  </c:pt>
                  <c:pt idx="5">
                    <c:v>openai-3-small</c:v>
                  </c:pt>
                  <c:pt idx="6">
                    <c:v>embeddinggemma-300m</c:v>
                  </c:pt>
                  <c:pt idx="7">
                    <c:v>mxbai-embed-large-v1</c:v>
                  </c:pt>
                  <c:pt idx="8">
                    <c:v>bge-large-en-v1.5</c:v>
                  </c:pt>
                  <c:pt idx="9">
                    <c:v>e5-large-v2</c:v>
                  </c:pt>
                  <c:pt idx="10">
                    <c:v>bge-m3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92.3</c:v>
                </c:pt>
                <c:pt idx="1">
                  <c:v>92</c:v>
                </c:pt>
                <c:pt idx="2">
                  <c:v>90.3</c:v>
                </c:pt>
                <c:pt idx="3">
                  <c:v>88.3</c:v>
                </c:pt>
                <c:pt idx="4">
                  <c:v>87.8</c:v>
                </c:pt>
                <c:pt idx="5">
                  <c:v>79.8</c:v>
                </c:pt>
                <c:pt idx="6">
                  <c:v>77.7</c:v>
                </c:pt>
                <c:pt idx="7">
                  <c:v>77.3</c:v>
                </c:pt>
                <c:pt idx="8">
                  <c:v>76.2</c:v>
                </c:pt>
                <c:pt idx="9">
                  <c:v>72.8</c:v>
                </c:pt>
                <c:pt idx="10">
                  <c:v>66.8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6"/>
          <c:min val="6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@1</c:v>
                </c:pt>
              </c:strCache>
            </c:strRef>
          </c:tx>
          <c:spPr>
            <a:solidFill>
              <a:srgbClr val="D97B2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7B2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B2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gemini-3.7-flash</c:v>
                  </c:pt>
                  <c:pt idx="1">
                    <c:v>gpt-4o-mini</c:v>
                  </c:pt>
                  <c:pt idx="2">
                    <c:v>no reranking (baseline)</c:v>
                  </c:pt>
                  <c:pt idx="3">
                    <c:v>cohere-rerank-3.5</c:v>
                  </c:pt>
                  <c:pt idx="4">
                    <c:v>bge-reranker-v2-m3</c:v>
                  </c:pt>
                  <c:pt idx="5">
                    <c:v>mxbai-rerank-base-v1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77.5</c:v>
                </c:pt>
                <c:pt idx="1">
                  <c:v>67.5</c:v>
                </c:pt>
                <c:pt idx="2">
                  <c:v>42.5</c:v>
                </c:pt>
                <c:pt idx="3">
                  <c:v>40</c:v>
                </c:pt>
                <c:pt idx="4">
                  <c:v>35</c:v>
                </c:pt>
                <c:pt idx="5">
                  <c:v>20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= 600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top1 − mean(top10)</c:v>
                  </c:pt>
                  <c:pt idx="1">
                    <c:v>top1 − top5</c:v>
                  </c:pt>
                  <c:pt idx="2">
                    <c:v>top1 − top2</c:v>
                  </c:pt>
                  <c:pt idx="3">
                    <c:v>top1 score alone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0.73</c:v>
                </c:pt>
                <c:pt idx="1">
                  <c:v>0.719</c:v>
                </c:pt>
                <c:pt idx="2">
                  <c:v>0.734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 = 40</c:v>
                </c:pt>
              </c:strCache>
            </c:strRef>
          </c:tx>
          <c:spPr>
            <a:solidFill>
              <a:srgbClr val="D97B2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top1 − mean(top10)</c:v>
                  </c:pt>
                  <c:pt idx="1">
                    <c:v>top1 − top5</c:v>
                  </c:pt>
                  <c:pt idx="2">
                    <c:v>top1 − top2</c:v>
                  </c:pt>
                  <c:pt idx="3">
                    <c:v>top1 score alone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0.654</c:v>
                </c:pt>
                <c:pt idx="1">
                  <c:v>0.656</c:v>
                </c:pt>
                <c:pt idx="2">
                  <c:v>0.768</c:v>
                </c:pt>
                <c:pt idx="3">
                  <c:v>0.57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53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B2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Raw corpus</c:v>
                  </c:pt>
                  <c:pt idx="1">
                    <c:v>− 588 race /
PR variants</c:v>
                  </c:pt>
                  <c:pt idx="2">
                    <c:v>− 115 survey-
quality tables</c:v>
                  </c:pt>
                  <c:pt idx="3">
                    <c:v>− 120 collapsed
B/C twins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1458</c:v>
                </c:pt>
                <c:pt idx="1">
                  <c:v>870</c:v>
                </c:pt>
                <c:pt idx="2">
                  <c:v>755</c:v>
                </c:pt>
                <c:pt idx="3">
                  <c:v>636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18872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EXPERIMENTS  ·  CENSUS-CONCIERGE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Strategy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five pre-registered experiment axes say about finding the right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table — and what to ship because of it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experiments/README.md · PROTOCOL.md · FINDINGS.md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directory exists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156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0 shipped a first retrieval attempt and scored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retrieval@1 = 0.45</a:t>
            </a:r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a floor of 0.70.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9192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79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156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606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explanation was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embedding model isn’t good enough.”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75304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7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156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0215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directory exists to test that explanation properly — 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swapping models until a number moved.</a:t>
            </a:r>
            <a:pPr indent="0" marL="0">
              <a:buNone/>
            </a:pP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6634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 turned out to be wrong twice over: the model barely</a:t>
            </a:r>
            <a:endParaRPr lang="en-US" sz="1350" dirty="0"/>
          </a:p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mattered, and part of the gap was a broken benchmark, not broken ranking.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4251960" cy="4343400"/>
          </a:xfrm>
          <a:prstGeom prst="roundRect">
            <a:avLst>
              <a:gd name="adj" fmla="val 258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3524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RETRIEVAL@1, SLICE 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21214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35240" y="3456432"/>
            <a:ext cx="3657600" cy="0"/>
          </a:xfrm>
          <a:prstGeom prst="line">
            <a:avLst/>
          </a:prstGeom>
          <a:noFill/>
          <a:ln w="12700">
            <a:solidFill>
              <a:srgbClr val="2C4A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36118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4526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required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35240" y="4892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throwaway and quarantined: nothing here imports from a shipped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path, and it never touches budgets.toml or api/src/.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protocol written before any arm ran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PROTOCOL.md, 2026-08-15 — so “which model won” cannot be decided by looking at the table afterwards.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8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600-question self-retrieval set is primary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0487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≈ 2 points, vs. SE ≈ 8 points on the 40-question golden set. It measures the same failure — ranking among sibling tables — at 15× the sample.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8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64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statistics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63931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arm sees identical inputs, compared per question with a paired bootstrap (10,000 resamples) — far more sensitive than comparing two independent point estimates.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8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498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 fixed in advance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87375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 (encoders) ranked by recall@10; Axis B (rerankers) ranked by @1 on a frozen candidate list. A difference only counts as real if the CI excludes zero.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axes, varied one at a time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changes were deliberately held back until after the model comparison — varying both at once would confound either result.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71016" y="26517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271016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48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Bi-encoders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114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encoder matter?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52928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5304" y="26517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75304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48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4114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reranker fix ordering?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57216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79592" y="26517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79592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48" dirty="0"/>
          </a:p>
        </p:txBody>
      </p:sp>
      <p:sp>
        <p:nvSpPr>
          <p:cNvPr id="18" name="Text 16"/>
          <p:cNvSpPr txBox="1"/>
          <p:nvPr/>
        </p:nvSpPr>
        <p:spPr>
          <a:xfrm>
            <a:off x="5266944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design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94376" y="4114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 richer document help?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61504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83880" y="265176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8388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48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98664" y="4114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low confidence detectable?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65792" y="2331720"/>
            <a:ext cx="2103120" cy="31089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488168" y="2651760"/>
            <a:ext cx="658368" cy="65836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88168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48" dirty="0"/>
          </a:p>
        </p:txBody>
      </p:sp>
      <p:sp>
        <p:nvSpPr>
          <p:cNvPr id="28" name="Text 26"/>
          <p:cNvSpPr txBox="1"/>
          <p:nvPr/>
        </p:nvSpPr>
        <p:spPr>
          <a:xfrm>
            <a:off x="9875520" y="3520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ID &amp; corpus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902952" y="4114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in the ID?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 — BI-ENCODERS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encoder matter?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74066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5087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SEPARABLE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− voyage on recall@10 is +0.3pt,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[−1.8, +2.7].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2651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Voyage's index is 3.1 MB vs. Gemini's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 MB — the tiebreaker.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92440" y="3749040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4206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recall@10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46634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pre-registered rule: the agent picks from a candidate list, so a first-stage retriever's job is to contain the answer, not order it.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 — bi-encoders, ranked by recall@10 on 600 questions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 — BI-ENCODERS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worth carrying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57984"/>
            <a:ext cx="566928" cy="56692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57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8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7510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general leaderboard didn't transfer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9572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BGE-M3, the common production default, came last of eleven arms scored (66.8% recall@10).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21024"/>
            <a:ext cx="566928" cy="56692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8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3814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Newer isn't better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5876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beat its own successor, gemini-embedding-2, on every metric measured.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84064"/>
            <a:ext cx="566928" cy="56692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84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8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011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Hosted vs. local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2180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hosted APIs (OpenAI, Gemini, Cohere, Voyage) swept the top five places; every local model trailed by 10+ points.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A — bi-encoders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— RERANKERS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reranker fix the ordering?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top-10 from the incumbent encoder — every arm reranks the identical candidate list.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920240"/>
            <a:ext cx="3703320" cy="4206240"/>
          </a:xfrm>
          <a:prstGeom prst="roundRect">
            <a:avLst>
              <a:gd name="adj" fmla="val 2469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183880" y="21488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PURPOSE-BUILT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CROSS-ENCODER SCORED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NOT RERANKING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7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ALL.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703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trained on (query, natural-language passage) pairs. Our documents are twelve-word structured records — no passage to score.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754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discriminating fact is semantic — households are not families. Generative models reason about that; cross-encoders don't.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— rerankers, @1 over a frozen top-10 (golden set)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— RERANKERS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generative reasoning helps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EAF6F1"/>
          </a:solidFill>
          <a:ln w="12700">
            <a:solidFill>
              <a:srgbClr val="BFE3D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gemini-3.7-flash   </a:t>
            </a:r>
            <a:pPr indent="0" marL="0">
              <a:buNone/>
            </a:pPr>
            <a:r>
              <a:rPr lang="en-US" sz="16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+35.0 pts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  </a:t>
            </a:r>
            <a:pPr indent="0" marL="0">
              <a:buNone/>
            </a:pPr>
            <a:r>
              <a:rPr lang="en-US" sz="1600" b="1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+25.0 pts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272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no reranking (42.5% baseline)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0332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the actual discriminating fact between sibling tables — households vs. families, workers vs. population 16+.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BEEE6"/>
          </a:solidFill>
          <a:ln w="12700">
            <a:solidFill>
              <a:srgbClr val="F0CCB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97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cohere-rerank-3.5   </a:t>
            </a:r>
            <a:pPr indent="0" marL="0">
              <a:buNone/>
            </a:pPr>
            <a:r>
              <a:rPr lang="en-US" sz="1600" b="1" dirty="0">
                <a:solidFill>
                  <a:srgbClr val="B1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−2.5 pts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97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bge-reranker-v2-m3   </a:t>
            </a:r>
            <a:pPr indent="0" marL="0">
              <a:buNone/>
            </a:pPr>
            <a:r>
              <a:rPr lang="en-US" sz="1600" b="1" dirty="0">
                <a:solidFill>
                  <a:srgbClr val="B1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−7.5 pts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mxbai-rerank-base-v1   </a:t>
            </a:r>
            <a:pPr indent="0" marL="0">
              <a:buNone/>
            </a:pPr>
            <a:r>
              <a:rPr lang="en-US" sz="1600" b="1" dirty="0">
                <a:solidFill>
                  <a:srgbClr val="B1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−22.5 pts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5387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worse than doing nothing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0332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score (query, natural-language passage) pairs. Our documents are twelve-word structured records with no passage to match against.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0533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reversed the recommendation made before running anything.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 — rerankers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 — DOCUMENT 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a richer document help?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enrichments tested.  4 neutral or harmful.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survives all four: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earns its place only if it discriminates between sibling tables — and even then, only outside the embedded text.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7315200" cy="155448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  <a:gridCol w="12801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chars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gemini-3.7-flash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— everything derived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 — only discriminating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138160" y="452628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BEEE6"/>
          </a:solidFill>
          <a:ln w="12700">
            <a:solidFill>
              <a:srgbClr val="F0CCB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468172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2E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questions gained across both models on the richer variant — four lost.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108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 on the embedding path (symmetric around zero) and a targeted tie-break for exact-duplicate twins (significantly worse). Describing the topic makes every sibling more similar.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C — document design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D — CONFIDENCE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low confidence detectable?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gap between the top two candidates predicts correctness, the product gets a confidence signal for free — before spending an LLM call.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675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533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0.5 = coin flip. The gap works — usable, not strong.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406640" y="1965960"/>
            <a:ext cx="4251960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80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THRESHOLD BUYS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at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82396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92124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above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101852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below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50th pct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82396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92124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01852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70th pct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92124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101852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434340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30% of questions by margin are right 92% of the time. The bottom half is barely better than chance — exactly the split the product needs: answer confidently, or show the neighbours.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D — margin as a confidence signal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MOVED THE NUMBER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structure — not models, not metadata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was read off the table ID itself, before the sweep began.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74520"/>
          <a:ext cx="74066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874520"/>
            <a:ext cx="3566160" cy="4251960"/>
          </a:xfrm>
          <a:prstGeom prst="roundRect">
            <a:avLst>
              <a:gd name="adj" fmla="val 2564"/>
            </a:avLst>
          </a:prstGeom>
          <a:solidFill>
            <a:srgbClr val="D97B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321040" y="2103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3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@5 RECALL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  →  80%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3246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folding the corpus alone — larger than every model difference measured in this sweep, combined.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470916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3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B19013A was outranking B19013; a broadband question answered with “population in households who are White alone.”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E — corpus structure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E — THE B/C TWINS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benchmark bug, not a retrieval gain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table is its B counterpart with categories collapsed — same title, universe and concept. 120 of 756 documents were byte-identical to another document.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BEEE6"/>
          </a:solidFill>
          <a:ln w="12700">
            <a:solidFill>
              <a:srgbClr val="F0CCB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B1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WAS A TWIN  ·  n = 97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3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0.0%</a:t>
            </a:r>
            <a:pPr indent="0" marL="0">
              <a:buNone/>
            </a:pPr>
            <a:r>
              <a:rPr lang="en-US" sz="2400" dirty="0">
                <a:solidFill>
                  <a:srgbClr val="8A3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ranker could ever place these first — identical text, identical vector. They were scored as failures and were unanswerable.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EAF6F1"/>
          </a:solidFill>
          <a:ln w="12700">
            <a:solidFill>
              <a:srgbClr val="BFE3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423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UNTOUCHED  ·  n = 503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8346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51.3%</a:t>
            </a:r>
            <a:pPr indent="0" marL="0">
              <a:buNone/>
            </a:pPr>
            <a:r>
              <a:rPr lang="en-US" sz="2400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rgbClr val="1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947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flat — the folded documents changed nothing for questions that could already be answered.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@1 on this set was never 43% — it was 51% on the questions that were answerable, dragged down by 16% that could not be. Voyage agrees (5.1% → 33.0%): a property of the corpus, not of a model.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E — the table ID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TRUSTING A NUMBER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6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09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multiple-comparison correction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1226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paired tests, no correction. The one “significant” golden-set result — Gemini over Voyage — is the one most likely to be a false positive.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53512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6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880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set is machine-generated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28269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reward models sharing gpt-4o-mini's phrasing. Spearman ρ between the two sets fell from +0.82 to +0.73 when Voyage joined.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6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050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human questions is a small ruler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531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resolve anything smaller than ≈ 5 questions. Growing that set is the cheapest remaining harness investment.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365760" cy="36576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36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212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8B-class encoders: infeasible, not scored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Nemotron-3-Embed-8B embeds at 18.7 s/text on CPU — also the query-time cost, against a 20s p95 budget. Out of reach without a GPU or hosted endpoint.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RETRIEVAL STRATEGY THIS POINTS 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16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188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gemini-embedding-001 or voyage-4-large — statistically tied; pick by deployment weight (index size, latency, cost).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762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Reranking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148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only (gemini-3.7-flash). Skip purpose-built cross-encoders entirely — they score below doing nothing.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363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text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1089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 and purely topical. No derived enrichment, however “discriminating” it looks to a human reader.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(top1 − top2), calibrated per encoder, to decide answer-confidently vs. show-the-neighbours.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056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029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race/PR variants and collapsed B/C twins before indexing — the single biggest lever measured, bigger than any model choice.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experiments/README.md · PROTOCOL.md · FINDINGS.md — every number here is reproducible from experiments/results/*.json.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app retrieves a table now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search_tables in api/src/tools.py — one tool inside the run_ask loop, not a graph (docs/ask-path.md).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7592" y="2359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07592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4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847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run_ask: a hand-rolled tool-calling loop, not a graph. The model stops by emitting text — there is no finish tool.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231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16352" y="210312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2359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21024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4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index.search()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953512" y="3520440"/>
            <a:ext cx="1847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Embeddings-only cosine over the 636-document corpus (text-embedding-3-large). Returns a top-10 pool. BM25 postings load but aren’t consulted.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919472" y="2231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9784" y="210312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34456" y="2359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34456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4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rerank.choose()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6944" y="3520440"/>
            <a:ext cx="1847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generative rerank orders that top-10 — the one step Axis B showed actually helps.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231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43216" y="210312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47888" y="23591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4788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4" dirty="0"/>
          </a:p>
        </p:txBody>
      </p:sp>
      <p:sp>
        <p:nvSpPr>
          <p:cNvPr id="26" name="Text 24"/>
          <p:cNvSpPr txBox="1"/>
          <p:nvPr/>
        </p:nvSpPr>
        <p:spPr>
          <a:xfrm>
            <a:off x="7552944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+ alternatives[]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580376" y="3520440"/>
            <a:ext cx="1847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table plus its siblings (same title / universe) — the concierge’s core discovery value.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546336" y="223113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756648" y="210312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DE6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61320" y="2359152"/>
            <a:ext cx="512064" cy="512064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61320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904" dirty="0"/>
          </a:p>
        </p:txBody>
      </p:sp>
      <p:sp>
        <p:nvSpPr>
          <p:cNvPr id="32" name="Text 30"/>
          <p:cNvSpPr txBox="1"/>
          <p:nvPr/>
        </p:nvSpPr>
        <p:spPr>
          <a:xfrm>
            <a:off x="9866376" y="3017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finish_tools() retry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893808" y="3520440"/>
            <a:ext cx="18470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stalls, misses the wording, or picks the wrong listing level: re-search with a pin (vintages.pinned_table), then resolve / build / fetch.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486400"/>
            <a:ext cx="11183112" cy="777240"/>
          </a:xfrm>
          <a:prstGeom prst="roundRect">
            <a:avLst>
              <a:gd name="adj" fmla="val 11765"/>
            </a:avLst>
          </a:prstGeom>
          <a:solidFill>
            <a:srgbClr val="FBEEE6"/>
          </a:solidFill>
          <a:ln w="12700">
            <a:solidFill>
              <a:srgbClr val="F0CCB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605272"/>
            <a:ext cx="10744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1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shipped:  </a:t>
            </a:r>
            <a:pPr indent="0" marL="0">
              <a:buNone/>
            </a:pPr>
            <a:r>
              <a:rPr lang="en-US" sz="1200" dirty="0">
                <a:solidFill>
                  <a:srgbClr val="6B2E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still ranks with text-embedding-3-large — the sweep’s incumbent baseline, not the gemini-embedding-001 / voyage-4-large tie Axis A found. search() and rerank are also still two separate calls (CC-54).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 — docs/ask-path.md, docs/retrieval.md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074152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census-concierge · experiments/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2026-09-25T12:40:23Z</dcterms:created>
  <dcterms:modified xsi:type="dcterms:W3CDTF">2026-09-25T12:40:23Z</dcterms:modified>
</cp:coreProperties>
</file>